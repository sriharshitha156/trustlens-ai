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A66C2"/>
                </a:solidFill>
                <a:latin typeface="Segoe UI"/>
              </a:rPr>
              <a:t>DELL AI FUTURE MINDS HACKATHON 2026 · TEAM AI MAVERICKS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6000" b="1" i="0">
                <a:solidFill>
                  <a:srgbClr val="0F172A"/>
                </a:solidFill>
                <a:latin typeface="Segoe UI"/>
              </a:rPr>
              <a:t>TrustLens AI</a:t>
            </a:r>
          </a:p>
          <a:p>
            <a:pPr algn="l">
              <a:spcAft>
                <a:spcPts val="2000"/>
              </a:spcAft>
            </a:pPr>
            <a:r>
              <a:rPr sz="2400" b="0" i="0">
                <a:solidFill>
                  <a:srgbClr val="64748B"/>
                </a:solidFill>
                <a:latin typeface="Segoe UI"/>
              </a:rPr>
              <a:t>Transparent &amp; Trustworthy AI Agent Interfaces for IT Operations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0F172A"/>
                </a:solidFill>
                <a:latin typeface="Segoe UI"/>
              </a:rPr>
              <a:t>“We turn opaque AI recommendations into decisions an IT admin can understand, question, and stand behind.”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A66C2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AI agents act — but their interfaces are opaque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011680"/>
            <a:ext cx="502920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A66C2"/>
                </a:solidFill>
                <a:latin typeface="Segoe UI"/>
              </a:rPr>
              <a:t>Opacity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4155"/>
                </a:solidFill>
                <a:latin typeface="Segoe UI"/>
              </a:rPr>
              <a:t>No view into why a recommendation was made — what data, what logic.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2011680"/>
            <a:ext cx="502920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A66C2"/>
                </a:solidFill>
                <a:latin typeface="Segoe UI"/>
              </a:rPr>
              <a:t>Calibration uncertainty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4155"/>
                </a:solidFill>
                <a:latin typeface="Segoe UI"/>
              </a:rPr>
              <a:t>“87%” tells you nothing about whether to trust it or question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931920"/>
            <a:ext cx="502920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A66C2"/>
                </a:solidFill>
                <a:latin typeface="Segoe UI"/>
              </a:rPr>
              <a:t>Accountability gap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4155"/>
                </a:solidFill>
                <a:latin typeface="Segoe UI"/>
              </a:rPr>
              <a:t>When AI is wrong, there's no usable audit trail to course-correct.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931920"/>
            <a:ext cx="502920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A66C2"/>
                </a:solidFill>
                <a:latin typeface="Segoe UI"/>
              </a:rPr>
              <a:t>Result: a trust deficit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4155"/>
                </a:solidFill>
                <a:latin typeface="Segoe UI"/>
              </a:rPr>
              <a:t>Hesitation, manual overrides, or avoidance — killing the value AI should deliver.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A66C2"/>
                </a:solidFill>
                <a:latin typeface="Segoe UI"/>
              </a:rPr>
              <a:t>WHO WE DESIGNED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Three personas, one platform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2011680"/>
          <a:ext cx="104241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291840"/>
                <a:gridCol w="42976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Segoe UI"/>
                        </a:rPr>
                        <a:t>Persona</a:t>
                      </a:r>
                    </a:p>
                  </a:txBody>
                  <a:tcPr marL="109728" marT="36576" marB="36576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Segoe UI"/>
                        </a:rPr>
                        <a:t>Needs</a:t>
                      </a:r>
                    </a:p>
                  </a:txBody>
                  <a:tcPr marL="109728" marT="36576" marB="36576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Segoe UI"/>
                        </a:rPr>
                        <a:t>What we gave them</a:t>
                      </a:r>
                    </a:p>
                  </a:txBody>
                  <a:tcPr marL="109728" marT="36576" marB="36576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Segoe UI"/>
                        </a:rPr>
                        <a:t>IT Admin (primary)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Segoe UI"/>
                        </a:rPr>
                        <a:t>Speed, accuracy, audit traceability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Segoe UI"/>
                        </a:rPr>
                        <a:t>Governance dashboard, Trust Analytics, Audit Center, override authority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Segoe UI"/>
                        </a:rPr>
                        <a:t>Security Analyst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Segoe UI"/>
                        </a:rPr>
                        <a:t>Evidence + confidence to escalate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Segoe UI"/>
                        </a:rPr>
                        <a:t>Evidence weighting, similar cases, outcome learning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Segoe UI"/>
                        </a:rPr>
                        <a:t>Non-tech stakeholder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Segoe UI"/>
                        </a:rPr>
                        <a:t>Plain-language “what &amp; why”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Segoe UI"/>
                        </a:rPr>
                        <a:t>Simplified view, plain audit log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2120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F172A"/>
                </a:solidFill>
                <a:latin typeface="Segoe UI"/>
              </a:rPr>
              <a:t>Key insight: same data, three lenses — the UI is role-gated, not three separate apps.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A66C2"/>
                </a:solidFill>
                <a:latin typeface="Segoe UI"/>
              </a:rPr>
              <a:t>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How we build calibrated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Segoe UI"/>
              </a:rPr>
              <a:t>•  No ML jargon, ever. Confidence is a band (“High”, “Review Recommended”), never a raw probability.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Segoe UI"/>
              </a:rPr>
              <a:t>•  Show the reasoning, not just the verdict. Every card answers why.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Segoe UI"/>
              </a:rPr>
              <a:t>•  Human-in-the-loop by default. No consequential action without explicit confirmation.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Segoe UI"/>
              </a:rPr>
              <a:t>•  Make doubt visible. Limitations and counter-considerations are first-class.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Segoe UI"/>
              </a:rPr>
              <a:t>•  Calibrated trust &gt; blind trust. History sits next to every confidence score.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A66C2"/>
                </a:solidFill>
                <a:latin typeface="Segoe UI"/>
              </a:rPr>
              <a:t>CORE REQUIREMENT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The five mandatory transparency elements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920240"/>
          <a:ext cx="10424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7406640"/>
              </a:tblGrid>
              <a:tr h="4876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Segoe UI"/>
                        </a:rPr>
                        <a:t>Element</a:t>
                      </a:r>
                    </a:p>
                  </a:txBody>
                  <a:tcPr marL="109728" marT="36576" marB="36576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Segoe UI"/>
                        </a:rPr>
                        <a:t>In TrustLens AI</a:t>
                      </a:r>
                    </a:p>
                  </a:txBody>
                  <a:tcPr marL="109728" marT="36576" marB="36576">
                    <a:solidFill>
                      <a:srgbClr val="E2E8F0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Segoe UI"/>
                        </a:rPr>
                        <a:t>Reasoning steps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Segoe UI"/>
                        </a:rPr>
                        <a:t>7-step “Why Did The AI Recommend This?” + evidence weighting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Segoe UI"/>
                        </a:rPr>
                        <a:t>Confidence level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Segoe UI"/>
                        </a:rPr>
                        <a:t>Qualitative bands + plain explanation (no raw %)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Segoe UI"/>
                        </a:rPr>
                        <a:t>Data source attribution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Segoe UI"/>
                        </a:rPr>
                        <a:t>Source cards with trust levels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Segoe UI"/>
                        </a:rPr>
                        <a:t>Known limitations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Segoe UI"/>
                        </a:rPr>
                        <a:t>AI Limitation Awareness + Counter Consideration + ledger weaknesses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Segoe UI"/>
                        </a:rPr>
                        <a:t>Human-in-the-loop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Segoe UI"/>
                        </a:rPr>
                        <a:t>Approve / Override / Escalate + Adaptive Approval Gate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85216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5803D"/>
                </a:solidFill>
                <a:latin typeface="Segoe UI"/>
              </a:rPr>
              <a:t>✓ All five are present and mandatory in the prototype.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A66C2"/>
                </a:solidFill>
                <a:latin typeface="Segoe UI"/>
              </a:rPr>
              <a:t>SIGNATURE PATTERN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Calibrated confidence, not a raw number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50292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A66C2"/>
                </a:solidFill>
                <a:latin typeface="Segoe UI"/>
              </a:rPr>
              <a:t>Before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4155"/>
                </a:solidFill>
                <a:latin typeface="Segoe UI"/>
              </a:rPr>
              <a:t>“87%” — meaningless on its 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2103120"/>
            <a:ext cx="50292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A66C2"/>
                </a:solidFill>
                <a:latin typeface="Segoe UI"/>
              </a:rPr>
              <a:t>After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4155"/>
                </a:solidFill>
                <a:latin typeface="Segoe UI"/>
              </a:rPr>
              <a:t>“Review Recommended — based on telemetry from 342 similar devices over 14 days.”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23360"/>
            <a:ext cx="10424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334155"/>
                </a:solidFill>
                <a:latin typeface="Segoe UI"/>
              </a:rPr>
              <a:t>Paired with the Trust Ledger: “Correct 47 / Incorrect 3 · over-flags Linux devices.”</a:t>
            </a:r>
          </a:p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F172A"/>
                </a:solidFill>
                <a:latin typeface="Segoe UI"/>
              </a:rPr>
              <a:t>Users calibrate from history + scope, not from a number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A66C2"/>
                </a:solidFill>
                <a:latin typeface="Segoe UI"/>
              </a:rPr>
              <a:t>SIGNATURE PATTERN 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Adaptive Approval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64748B"/>
                </a:solidFill>
                <a:latin typeface="Segoe UI"/>
              </a:rPr>
              <a:t>Friction scales with risk — low-risk isn't annoying, high-risk isn't reckless.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2468880"/>
          <a:ext cx="104241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680960"/>
              </a:tblGrid>
              <a:tr h="493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F172A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 marL="109728" marT="36576" marB="36576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F172A"/>
                          </a:solidFill>
                          <a:latin typeface="Segoe UI"/>
                        </a:rPr>
                        <a:t>Gate</a:t>
                      </a:r>
                    </a:p>
                  </a:txBody>
                  <a:tcPr marL="109728" marT="36576" marB="36576">
                    <a:solidFill>
                      <a:srgbClr val="E2E8F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34155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34155"/>
                          </a:solidFill>
                          <a:latin typeface="Segoe UI"/>
                        </a:rPr>
                        <a:t>One-click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34155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34155"/>
                          </a:solidFill>
                          <a:latin typeface="Segoe UI"/>
                        </a:rPr>
                        <a:t>Evidence review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34155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34155"/>
                          </a:solidFill>
                          <a:latin typeface="Segoe UI"/>
                        </a:rPr>
                        <a:t>Evidence + impact review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34155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334155"/>
                          </a:solidFill>
                          <a:latin typeface="Segoe UI"/>
                        </a:rPr>
                        <a:t>+ written justification</a:t>
                      </a:r>
                    </a:p>
                  </a:txBody>
                  <a:tcPr marL="109728" marT="36576" marB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566928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F172A"/>
                </a:solidFill>
                <a:latin typeface="Segoe UI"/>
              </a:rPr>
              <a:t>Why: uniform friction trains users to click through everything; adaptive friction preserves attention for what matters.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A66C2"/>
                </a:solidFill>
                <a:latin typeface="Segoe UI"/>
              </a:rPr>
              <a:t>SIGNATURE PATTERN 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Designing for doubt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011680"/>
            <a:ext cx="502920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A66C2"/>
                </a:solidFill>
                <a:latin typeface="Segoe UI"/>
              </a:rPr>
              <a:t>Counter Consideration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4155"/>
                </a:solidFill>
                <a:latin typeface="Segoe UI"/>
              </a:rPr>
              <a:t>An alternative explanation shown next to the recommendation — fights automation bias.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2011680"/>
            <a:ext cx="502920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A66C2"/>
                </a:solidFill>
                <a:latin typeface="Segoe UI"/>
              </a:rPr>
              <a:t>Impact Preview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4155"/>
                </a:solidFill>
                <a:latin typeface="Segoe UI"/>
              </a:rPr>
              <a:t>Consequences of both approving and dismissing.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931920"/>
            <a:ext cx="502920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A66C2"/>
                </a:solidFill>
                <a:latin typeface="Segoe UI"/>
              </a:rPr>
              <a:t>AI Incident Cards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4155"/>
                </a:solidFill>
                <a:latin typeface="Segoe UI"/>
              </a:rPr>
              <a:t>When AI is wrong: a structured “what failed &amp; lesson learned.”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931920"/>
            <a:ext cx="502920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A66C2"/>
                </a:solidFill>
                <a:latin typeface="Segoe UI"/>
              </a:rPr>
              <a:t>AI Limitation Awareness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4155"/>
                </a:solidFill>
                <a:latin typeface="Segoe UI"/>
              </a:rPr>
              <a:t>Flagged telemetry gaps with impact levels.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A66C2"/>
                </a:solidFill>
                <a:latin typeface="Segoe UI"/>
              </a:rPr>
              <a:t>INNOVATION &amp; STRETCH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Beyond the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Segoe UI"/>
              </a:rPr>
              <a:t>•  High-Risk Decision Courtroom — Advocate vs Challenger agents debate the SAME evidence; a disagreement meter forces human review on contested cases.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Segoe UI"/>
              </a:rPr>
              <a:t>•  Multi-Agent Transparency — visualizes the Detection → Analysis → Remediation handoff.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Segoe UI"/>
              </a:rPr>
              <a:t>•  Problem-first framing + Priority-triage browser (risk + impact + aging + confidence).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Segoe UI"/>
              </a:rPr>
              <a:t>•  Accessibility (WCAG 2.1 AA) — Lighthouse 100/100; merged Audit &amp; Activity Log with CSV export.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A66C2"/>
                </a:solidFill>
                <a:latin typeface="Segoe UI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We tested with real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64748B"/>
                </a:solidFill>
                <a:latin typeface="Segoe UI"/>
              </a:rPr>
              <a:t>5 moderated think-aloud sessions · non-ML participants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468880"/>
            <a:ext cx="3230880" cy="1554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0A66C2"/>
                </a:solidFill>
                <a:latin typeface="Segoe UI"/>
              </a:rPr>
              <a:t>5</a:t>
            </a:r>
          </a:p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participants (meets minimum)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65320" y="2468880"/>
            <a:ext cx="3230880" cy="1554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0A66C2"/>
                </a:solidFill>
                <a:latin typeface="Segoe UI"/>
              </a:rPr>
              <a:t>64%</a:t>
            </a:r>
          </a:p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comprehension (“what &amp; why”)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61960" y="2468880"/>
            <a:ext cx="3230880" cy="1554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0A66C2"/>
                </a:solidFill>
                <a:latin typeface="Segoe UI"/>
              </a:rPr>
              <a:t>100</a:t>
            </a:r>
          </a:p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Lighthouse accessibility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10424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334155"/>
                </a:solidFill>
                <a:latin typeface="Segoe UI"/>
              </a:rPr>
              <a:t>Found &amp; fixing: first-time orientation · confidence-vs-reliability clarity · control discoverability.</a:t>
            </a:r>
          </a:p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B45309"/>
                </a:solidFill>
                <a:latin typeface="Segoe UI"/>
              </a:rPr>
              <a:t>“In control” ~50% → our top improvement.</a:t>
            </a:r>
          </a:p>
          <a:p>
            <a:pPr algn="l">
              <a:spcAft>
                <a:spcPts val="800"/>
              </a:spcAft>
            </a:pPr>
            <a:r>
              <a:rPr sz="1500" b="0" i="1">
                <a:solidFill>
                  <a:srgbClr val="64748B"/>
                </a:solidFill>
                <a:latin typeface="Segoe UI"/>
              </a:rPr>
              <a:t>Full method &amp; results in our Usability Test Report.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A66C2"/>
                </a:solidFill>
                <a:latin typeface="Segoe UI"/>
              </a:rPr>
              <a:t>ARCHITECTURE — HONEST TO THE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Simulated AI, real UX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Segoe UI"/>
              </a:rPr>
              <a:t>•  No model trained, no prod backend — outputs simulated from Faker-generated IT logs (16 linked CSVs).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Segoe UI"/>
              </a:rPr>
              <a:t>•  React 19 + Vite + Tailwind, fully client-side; loads CSVs via PapaParse.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Segoe UI"/>
              </a:rPr>
              <a:t>•  Runs offline — no API key required.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Segoe UI"/>
              </a:rPr>
              <a:t>•  60%+ of effort on design + testing, per the brief's guidance.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A66C2"/>
                </a:solidFill>
                <a:latin typeface="Segoe UI"/>
              </a:rPr>
              <a:t>IMPACT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72A"/>
                </a:solidFill>
                <a:latin typeface="Segoe UI"/>
              </a:rPr>
              <a:t>Calibrated trust,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424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400" b="1" i="0">
                <a:solidFill>
                  <a:srgbClr val="0F172A"/>
                </a:solidFill>
                <a:latin typeface="Segoe UI"/>
              </a:rPr>
              <a:t>Admins lean on AI where it's strong, override where they know better — and always have a record.</a:t>
            </a:r>
          </a:p>
          <a:p>
            <a:pPr algn="l">
              <a:spcAft>
                <a:spcPts val="2400"/>
              </a:spcAft>
            </a:pPr>
            <a:r>
              <a:rPr sz="1800" b="0" i="0">
                <a:solidFill>
                  <a:srgbClr val="334155"/>
                </a:solidFill>
                <a:latin typeface="Segoe UI"/>
              </a:rPr>
              <a:t>Next: live Hugging Face inference + SHAP rendering · multi-tenant audit retention · forced first-run onboarding.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0A66C2"/>
                </a:solidFill>
                <a:latin typeface="Segoe UI"/>
              </a:rPr>
              <a:t>Thank you — live demo now.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