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DELL AI FUTURE MINDS HACKATHON 2026 · TEAM AI MAVERICKS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6000" b="1" i="0">
                <a:solidFill>
                  <a:srgbClr val="F8FAFC"/>
                </a:solidFill>
                <a:latin typeface="Segoe UI"/>
              </a:rPr>
              <a:t>TrustLens AI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94A3B8"/>
                </a:solidFill>
                <a:latin typeface="Segoe UI"/>
              </a:rPr>
              <a:t>Transparent &amp; Trustworthy AI Agent Interfaces for IT Operations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8FAFC"/>
                </a:solidFill>
                <a:latin typeface="Segoe UI"/>
              </a:rPr>
              <a:t>“We turn opaque AI recommendations into decisions an IT admin can understand, question, and stand behind.”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AI agents act — but their interfaces are opaque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Opacity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No view into why a recommendation was made — what data, what logic.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01168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Calibration uncertainty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“87%” tells you nothing about whether to trust it or question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3192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Accountability gap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When AI is wrong, there's no usable audit trail to course-correct.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93192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Result: a trust deficit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Hesitation, manual overrides, or avoidance — killing the value AI should deliver.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WHO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Three personas, one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011680"/>
          <a:ext cx="10424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91840"/>
                <a:gridCol w="4297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Persona</a:t>
                      </a:r>
                    </a:p>
                  </a:txBody>
                  <a:tcPr marL="109728" marT="36576" marB="36576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Needs</a:t>
                      </a:r>
                    </a:p>
                  </a:txBody>
                  <a:tcPr marL="109728" marT="36576" marB="36576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What we gave them</a:t>
                      </a:r>
                    </a:p>
                  </a:txBody>
                  <a:tcPr marL="109728" marT="36576" marB="36576">
                    <a:solidFill>
                      <a:srgbClr val="1624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IT Admin (primary)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Speed, accuracy, audit traceability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Governance dashboard, Trust Analytics, Audit Center, override authority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Security Analyst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Evidence + confidence to escalate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Evidence weighting, similar cases, outcome learning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Non-tech stakeholder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Plain-language “what &amp; why”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Simplified view, plain audit log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8FAFC"/>
                </a:solidFill>
                <a:latin typeface="Segoe UI"/>
              </a:rPr>
              <a:t>Key insight: same data, three lenses — the UI is role-gated, not three separate apps.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How we build calibrated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No ML jargon, ever. Confidence is a band (“High”, “Review Recommended”), never a raw probability.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Show the reasoning, not just the verdict. Every card answers why.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Human-in-the-loop by default. No consequential action without explicit confirmation.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Make doubt visible. Limitations and counter-considerations are first-class.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Calibrated trust &gt; blind trust. History sits next to every confidence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CORE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The five mandatory transparency elements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92024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40664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Element</a:t>
                      </a:r>
                    </a:p>
                  </a:txBody>
                  <a:tcPr marL="109728" marT="36576" marB="36576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In TrustLens AI</a:t>
                      </a:r>
                    </a:p>
                  </a:txBody>
                  <a:tcPr marL="109728" marT="36576" marB="36576">
                    <a:solidFill>
                      <a:srgbClr val="16243A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Reasoning steps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7-step “Why Did The AI Recommend This?” + evidence weighting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Confidence level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Qualitative bands + plain explanation (no raw %)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Data source attribution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Source cards with trust levels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Known limitations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AI Limitation Awareness + Counter Consideration + ledger weaknesses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Human-in-the-loop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CBD5E1"/>
                          </a:solidFill>
                          <a:latin typeface="Segoe UI"/>
                        </a:rPr>
                        <a:t>Approve / Override / Escalate + Adaptive Approval Gate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22C55E"/>
                </a:solidFill>
                <a:latin typeface="Segoe UI"/>
              </a:rPr>
              <a:t>✓ All five are present and mandatory in the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SIGNATURE PATTERN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Calibrated confidence, not a raw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029200" cy="155448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Before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“87%” — meaningless on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103120"/>
            <a:ext cx="5029200" cy="155448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After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“Review Recommended — based on telemetry from 342 similar devices over 14 days.”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Paired with the Trust Ledger: “Correct 47 / Incorrect 3 · over-flags Linux devices.”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8FAFC"/>
                </a:solidFill>
                <a:latin typeface="Segoe UI"/>
              </a:rPr>
              <a:t>Users calibrate from history + scope, not from a number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SIGNATURE PATTERN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Adaptive Approval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94A3B8"/>
                </a:solidFill>
                <a:latin typeface="Segoe UI"/>
              </a:rPr>
              <a:t>Friction scales with risk — low-risk isn't annoying, high-risk isn't reckless.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468880"/>
          <a:ext cx="10424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68096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8FAFC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09728" marT="36576" marB="36576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8FAFC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109728" marT="36576" marB="36576">
                    <a:solidFill>
                      <a:srgbClr val="16243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One-click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Evidence review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Evidence + impact review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CBD5E1"/>
                          </a:solidFill>
                          <a:latin typeface="Segoe UI"/>
                        </a:rPr>
                        <a:t>+ written justification</a:t>
                      </a:r>
                    </a:p>
                  </a:txBody>
                  <a:tcPr marL="109728" marT="36576" marB="36576">
                    <a:solidFill>
                      <a:srgbClr val="111C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6692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Why: uniform friction trains users to click through everything; adaptive friction preserves attention for what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SIGNATURE PATTERN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Designing for doubt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Counter Consideration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An alternative explanation shown next to the recommendation — fights automation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01168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Impact Preview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Consequences of both approving and dismissing.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3192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AI Incident Cards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When AI is wrong: a structured “what failed &amp; lesson learned.”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931920"/>
            <a:ext cx="5029200" cy="1737360"/>
          </a:xfrm>
          <a:prstGeom prst="rect">
            <a:avLst/>
          </a:prstGeom>
          <a:solidFill>
            <a:srgbClr val="111C30"/>
          </a:solidFill>
          <a:ln w="12700"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DA1F2"/>
                </a:solidFill>
                <a:latin typeface="Segoe UI"/>
              </a:rPr>
              <a:t>AI Limitation Awareness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BD5E1"/>
                </a:solidFill>
                <a:latin typeface="Segoe UI"/>
              </a:rPr>
              <a:t>Flagged telemetry gaps with impact levels.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INNOVATION &amp; STRETCH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Beyond 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Autonomy Dial — per-recommendation: Always Ask Me → Recommend Only → Act &amp; Notify (auto-disabled on high risk).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Multi-Agent Transparency — visualizes the Detection → Analysis → Remediation handoff.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Accessibility (WCAG 2.1 AA) — Lighthouse 100/100: focus rings, skip link, reduced motion, ARIA.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Audit CSV export + AI Explainability context on every audit record.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We tested with real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94A3B8"/>
                </a:solidFill>
                <a:latin typeface="Segoe UI"/>
              </a:rPr>
              <a:t>5 moderated think-aloud sessions · non-ML participants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468880"/>
            <a:ext cx="3230880" cy="1554480"/>
          </a:xfrm>
          <a:prstGeom prst="rect">
            <a:avLst/>
          </a:prstGeom>
          <a:solidFill>
            <a:srgbClr val="111C30"/>
          </a:solidFill>
          <a:ln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DA1F2"/>
                </a:solidFill>
                <a:latin typeface="Segoe UI"/>
              </a:rPr>
              <a:t>5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participants (meets minimum)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5320" y="2468880"/>
            <a:ext cx="3230880" cy="1554480"/>
          </a:xfrm>
          <a:prstGeom prst="rect">
            <a:avLst/>
          </a:prstGeom>
          <a:solidFill>
            <a:srgbClr val="111C30"/>
          </a:solidFill>
          <a:ln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DA1F2"/>
                </a:solidFill>
                <a:latin typeface="Segoe UI"/>
              </a:rPr>
              <a:t>64%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comprehension (“what &amp; why”)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1960" y="2468880"/>
            <a:ext cx="3230880" cy="1554480"/>
          </a:xfrm>
          <a:prstGeom prst="rect">
            <a:avLst/>
          </a:prstGeom>
          <a:solidFill>
            <a:srgbClr val="111C30"/>
          </a:solidFill>
          <a:ln>
            <a:solidFill>
              <a:srgbClr val="273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DA1F2"/>
                </a:solidFill>
                <a:latin typeface="Segoe UI"/>
              </a:rPr>
              <a:t>100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Lighthouse 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BD5E1"/>
                </a:solidFill>
                <a:latin typeface="Segoe UI"/>
              </a:rPr>
              <a:t>Found &amp; fixing: first-time orientation · confidence-vs-reliability clarity · control discoverability.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59E0B"/>
                </a:solidFill>
                <a:latin typeface="Segoe UI"/>
              </a:rPr>
              <a:t>“In control” ~50% → our top improvement.</a:t>
            </a:r>
          </a:p>
          <a:p>
            <a:pPr algn="l">
              <a:spcAft>
                <a:spcPts val="800"/>
              </a:spcAft>
            </a:pPr>
            <a:r>
              <a:rPr sz="1500" b="0" i="1">
                <a:solidFill>
                  <a:srgbClr val="94A3B8"/>
                </a:solidFill>
                <a:latin typeface="Segoe UI"/>
              </a:rPr>
              <a:t>Full method &amp; results in our Usability Test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ARCHITECTURE — HONEST TO 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Simulated AI, real UX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No model trained, no prod backend — outputs simulated from Faker-generated IT logs (16 linked CSVs).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React 19 + Vite + Tailwind, fully client-side; loads CSVs via PapaParse.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Runs offline — no API key required.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BD5E1"/>
                </a:solidFill>
                <a:latin typeface="Segoe UI"/>
              </a:rPr>
              <a:t>•  60%+ of effort on design + testing, per the brief's guidance.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DA1F2"/>
                </a:solidFill>
                <a:latin typeface="Segoe UI"/>
              </a:rPr>
              <a:t>IMPACT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8FAFC"/>
                </a:solidFill>
                <a:latin typeface="Segoe UI"/>
              </a:rPr>
              <a:t>Calibrated trust,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 b="1" i="0">
                <a:solidFill>
                  <a:srgbClr val="F8FAFC"/>
                </a:solidFill>
                <a:latin typeface="Segoe UI"/>
              </a:rPr>
              <a:t>Admins lean on AI where it's strong, override where they know better — and always have a record.</a:t>
            </a:r>
          </a:p>
          <a:p>
            <a:pPr algn="l">
              <a:spcAft>
                <a:spcPts val="2400"/>
              </a:spcAft>
            </a:pPr>
            <a:r>
              <a:rPr sz="1800" b="0" i="0">
                <a:solidFill>
                  <a:srgbClr val="CBD5E1"/>
                </a:solidFill>
                <a:latin typeface="Segoe UI"/>
              </a:rPr>
              <a:t>Next: live Hugging Face inference + SHAP rendering · multi-tenant audit retention · A/B test the Autonomy Dial defaults.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DA1F2"/>
                </a:solidFill>
                <a:latin typeface="Segoe UI"/>
              </a:rPr>
              <a:t>Thank you — live demo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